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5A1E3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5A1E3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2560320" cy="2560320"/>
          </a:xfrm>
          <a:prstGeom prst="ellipse">
            <a:avLst/>
          </a:prstGeom>
          <a:solidFill>
            <a:srgbClr val="C9A24B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68680"/>
            <a:ext cx="822960" cy="8229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09087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ROOMY'S  ·  JEWELRY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Salon Partnership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where beauty already happens — 25+ pitch-ready salons, spas &amp; barbershops around zip 10036.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402336" cy="402336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1" y="5732191"/>
            <a:ext cx="185075" cy="185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0704" y="5623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Square · Theater District · Hell's Kitchen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17720" y="5623560"/>
            <a:ext cx="402336" cy="402336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351" y="5732191"/>
            <a:ext cx="185075" cy="185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9784" y="5623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August 19, 2026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0" y="5623560"/>
            <a:ext cx="402336" cy="402336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431" y="5732191"/>
            <a:ext cx="185075" cy="185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98864" y="5623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roomysjewelery.store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salons are our showroom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line: your clients leave beautiful — let them leave sparkling.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949440" cy="1298448"/>
          </a:xfrm>
          <a:prstGeom prst="roundRect">
            <a:avLst>
              <a:gd name="adj" fmla="val 8451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95144"/>
            <a:ext cx="640080" cy="640080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467966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are the product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manicures make rings and bracelets sell themselves in the finishing chair.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6949440" cy="1298448"/>
          </a:xfrm>
          <a:prstGeom prst="roundRect">
            <a:avLst>
              <a:gd name="adj" fmla="val 8451"/>
            </a:avLst>
          </a:prstGeom>
          <a:solidFill>
            <a:srgbClr val="F6F1E7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776472"/>
            <a:ext cx="640080" cy="640080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394929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611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arrive event-ready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91640" y="40233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Blowouts, updos and facials mean weddings, galas and shows — jewelry moments, same day.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928616"/>
            <a:ext cx="6949440" cy="1298448"/>
          </a:xfrm>
          <a:prstGeom prst="roundRect">
            <a:avLst>
              <a:gd name="adj" fmla="val 8451"/>
            </a:avLst>
          </a:prstGeom>
          <a:solidFill>
            <a:srgbClr val="F6F1E7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5257800"/>
            <a:ext cx="640080" cy="640080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543062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50932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Stylists are trusted advisors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91640" y="550468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stylist's “that would look gorgeous on you” outsells any ad we could buy.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818120" y="1965960"/>
            <a:ext cx="3822192" cy="1298448"/>
          </a:xfrm>
          <a:prstGeom prst="roundRect">
            <a:avLst>
              <a:gd name="adj" fmla="val 8451"/>
            </a:avLst>
          </a:prstGeom>
          <a:solidFill>
            <a:srgbClr val="5A1E33"/>
          </a:solidFill>
          <a:ln/>
        </p:spPr>
      </p:sp>
      <p:sp>
        <p:nvSpPr>
          <p:cNvPr id="20" name="Text 15"/>
          <p:cNvSpPr/>
          <p:nvPr/>
        </p:nvSpPr>
        <p:spPr>
          <a:xfrm>
            <a:off x="8001000" y="2075688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4400" dirty="0"/>
          </a:p>
        </p:txBody>
      </p:sp>
      <p:sp>
        <p:nvSpPr>
          <p:cNvPr id="21" name="Text 16"/>
          <p:cNvSpPr/>
          <p:nvPr/>
        </p:nvSpPr>
        <p:spPr>
          <a:xfrm>
            <a:off x="9601200" y="2075688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targets on this list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818120" y="3447288"/>
            <a:ext cx="3822192" cy="1298448"/>
          </a:xfrm>
          <a:prstGeom prst="roundRect">
            <a:avLst>
              <a:gd name="adj" fmla="val 8451"/>
            </a:avLst>
          </a:prstGeom>
          <a:solidFill>
            <a:srgbClr val="5A1E33"/>
          </a:solidFill>
          <a:ln/>
        </p:spPr>
      </p:sp>
      <p:sp>
        <p:nvSpPr>
          <p:cNvPr id="23" name="Text 18"/>
          <p:cNvSpPr/>
          <p:nvPr/>
        </p:nvSpPr>
        <p:spPr>
          <a:xfrm>
            <a:off x="8001000" y="3557016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4" name="Text 19"/>
          <p:cNvSpPr/>
          <p:nvPr/>
        </p:nvSpPr>
        <p:spPr>
          <a:xfrm>
            <a:off x="9601200" y="3557016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 W 46th St alone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818120" y="4928616"/>
            <a:ext cx="3822192" cy="1298448"/>
          </a:xfrm>
          <a:prstGeom prst="roundRect">
            <a:avLst>
              <a:gd name="adj" fmla="val 8451"/>
            </a:avLst>
          </a:prstGeom>
          <a:solidFill>
            <a:srgbClr val="5A1E33"/>
          </a:solidFill>
          <a:ln/>
        </p:spPr>
      </p:sp>
      <p:sp>
        <p:nvSpPr>
          <p:cNvPr id="26" name="Text 21"/>
          <p:cNvSpPr/>
          <p:nvPr/>
        </p:nvSpPr>
        <p:spPr>
          <a:xfrm>
            <a:off x="8001000" y="5038344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7" name="Text 22"/>
          <p:cNvSpPr/>
          <p:nvPr/>
        </p:nvSpPr>
        <p:spPr>
          <a:xfrm>
            <a:off x="9601200" y="5038344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walk the whole 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a salon says yes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per venue — every model is zero inventory risk for the salon.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504688" cy="2084832"/>
          </a:xfrm>
          <a:prstGeom prst="roundRect">
            <a:avLst>
              <a:gd name="adj" fmla="val 5263"/>
            </a:avLst>
          </a:prstGeom>
          <a:solidFill>
            <a:srgbClr val="F6F1E7"/>
          </a:solidFill>
          <a:ln/>
          <a:effectLst>
            <a:outerShdw sx="100000" sy="100000" kx="0" ky="0" algn="bl" rotWithShape="0" blurRad="76200" dist="25400" dir="5400000">
              <a:srgbClr val="D8CD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203704"/>
            <a:ext cx="475488" cy="475488"/>
          </a:xfrm>
          <a:prstGeom prst="ellipse">
            <a:avLst/>
          </a:prstGeom>
          <a:solidFill>
            <a:srgbClr val="5A1E3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03520" y="2203704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902" y="2332086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67128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Countertop display case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vitrine of 8–12 pieces on consignment. We stock, restock and insure it.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59359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earns 15–25% of every sale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965960"/>
            <a:ext cx="5504688" cy="2084832"/>
          </a:xfrm>
          <a:prstGeom prst="roundRect">
            <a:avLst>
              <a:gd name="adj" fmla="val 5263"/>
            </a:avLst>
          </a:prstGeom>
          <a:solidFill>
            <a:srgbClr val="F6F1E7"/>
          </a:solidFill>
          <a:ln/>
          <a:effectLst>
            <a:outerShdw sx="100000" sy="100000" kx="0" ky="0" algn="bl" rotWithShape="0" blurRad="76200" dist="25400" dir="5400000">
              <a:srgbClr val="D8CDBA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47104" y="2203704"/>
            <a:ext cx="475488" cy="475488"/>
          </a:xfrm>
          <a:prstGeom prst="ellipse">
            <a:avLst/>
          </a:prstGeom>
          <a:solidFill>
            <a:srgbClr val="5A1E33"/>
          </a:solidFill>
          <a:ln/>
        </p:spPr>
      </p:sp>
      <p:sp>
        <p:nvSpPr>
          <p:cNvPr id="14" name="Text 11"/>
          <p:cNvSpPr/>
          <p:nvPr/>
        </p:nvSpPr>
        <p:spPr>
          <a:xfrm>
            <a:off x="6547104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064240" y="2203704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622" y="2332086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167128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referral code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83680" y="2834640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code on the mirror card; clients redeem online or in person.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0" y="359359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earns a flat fee or % per redemption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343400"/>
            <a:ext cx="5504688" cy="2084832"/>
          </a:xfrm>
          <a:prstGeom prst="roundRect">
            <a:avLst>
              <a:gd name="adj" fmla="val 5263"/>
            </a:avLst>
          </a:prstGeom>
          <a:solidFill>
            <a:srgbClr val="F6F1E7"/>
          </a:solidFill>
          <a:ln/>
          <a:effectLst>
            <a:outerShdw sx="100000" sy="100000" kx="0" ky="0" algn="bl" rotWithShape="0" blurRad="76200" dist="25400" dir="5400000">
              <a:srgbClr val="D8CDBA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86384" y="4581144"/>
            <a:ext cx="475488" cy="475488"/>
          </a:xfrm>
          <a:prstGeom prst="ellipse">
            <a:avLst/>
          </a:prstGeom>
          <a:solidFill>
            <a:srgbClr val="5A1E33"/>
          </a:solidFill>
          <a:ln/>
        </p:spPr>
      </p:sp>
      <p:sp>
        <p:nvSpPr>
          <p:cNvPr id="22" name="Text 18"/>
          <p:cNvSpPr/>
          <p:nvPr/>
        </p:nvSpPr>
        <p:spPr>
          <a:xfrm>
            <a:off x="786384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303520" y="4581144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02" y="4709526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4544568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“Jewels &amp; Blowouts” nights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22960" y="5212080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trunk show — we bring the sparkle and the bubbly, they bring the client list.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22960" y="597103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earns event fee + % of the night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09360" y="4343400"/>
            <a:ext cx="5504688" cy="2084832"/>
          </a:xfrm>
          <a:prstGeom prst="roundRect">
            <a:avLst>
              <a:gd name="adj" fmla="val 5263"/>
            </a:avLst>
          </a:prstGeom>
          <a:solidFill>
            <a:srgbClr val="F6F1E7"/>
          </a:solidFill>
          <a:ln/>
          <a:effectLst>
            <a:outerShdw sx="100000" sy="100000" kx="0" ky="0" algn="bl" rotWithShape="0" blurRad="76200" dist="25400" dir="5400000">
              <a:srgbClr val="D8CDBA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547104" y="4581144"/>
            <a:ext cx="475488" cy="475488"/>
          </a:xfrm>
          <a:prstGeom prst="ellipse">
            <a:avLst/>
          </a:prstGeom>
          <a:solidFill>
            <a:srgbClr val="5A1E33"/>
          </a:solidFill>
          <a:ln/>
        </p:spPr>
      </p:sp>
      <p:sp>
        <p:nvSpPr>
          <p:cNvPr id="30" name="Text 25"/>
          <p:cNvSpPr/>
          <p:nvPr/>
        </p:nvSpPr>
        <p:spPr>
          <a:xfrm>
            <a:off x="6547104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1064240" y="4581144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622" y="4709526"/>
            <a:ext cx="218724" cy="21872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78040" y="4544568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Bridal package tie-in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6583680" y="5212080"/>
            <a:ext cx="4956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bridal salons, blow-dry bars and hotel spas for the getting-ready market.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583680" y="597103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 per booked bride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turf — zip 10036, west to east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40th–W 48th St, Hudson River to Fifth Avenue. Four corridors, each walkable in a morning.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6F1E7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31136"/>
            <a:ext cx="420624" cy="42062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664" y="2344704"/>
            <a:ext cx="193487" cy="193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stops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279806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Ave corridor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68096" y="33284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 local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3749040"/>
            <a:ext cx="2295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NAMS Nail Spa — 642 10th Ave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cluster — 628–695 10th Ave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Drybar — 490 W 42nd 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20116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6F1E7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231136"/>
            <a:ext cx="420624" cy="42062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736" y="2344704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42232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stops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30168" y="279806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 &amp; 8th Ave strip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30168" y="33284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regulars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630168" y="3749040"/>
            <a:ext cx="2295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 Barbers — 667 9th Ave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Best Barbers — 319 W 47th St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CityStar — 875 8th Ave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York Spa — 797 8th Ave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72784" y="20116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6F1E7"/>
          </a:solidFill>
          <a:ln/>
        </p:spPr>
      </p:sp>
      <p:sp>
        <p:nvSpPr>
          <p:cNvPr id="19" name="Shape 15"/>
          <p:cNvSpPr/>
          <p:nvPr/>
        </p:nvSpPr>
        <p:spPr>
          <a:xfrm>
            <a:off x="6492240" y="2231136"/>
            <a:ext cx="420624" cy="42062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808" y="2344704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04304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stops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92240" y="279806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District core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92240" y="33284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event traffic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92240" y="3749040"/>
            <a:ext cx="2295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Sq Men Spa — 351 W 44th St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Chatwal Giving Tree Spa — W 44th St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Blow Dry — Riu Plaza &amp; Sheraton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34856" y="20116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5A1E33"/>
          </a:solidFill>
          <a:ln/>
        </p:spPr>
      </p:sp>
      <p:sp>
        <p:nvSpPr>
          <p:cNvPr id="26" name="Shape 21"/>
          <p:cNvSpPr/>
          <p:nvPr/>
        </p:nvSpPr>
        <p:spPr>
          <a:xfrm>
            <a:off x="9354312" y="2231136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880" y="2344704"/>
            <a:ext cx="193487" cy="1934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66376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stops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354312" y="279806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Fifth Ave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354312" y="33284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District edge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354312" y="3749040"/>
            <a:ext cx="2295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Row — W 46th St (next slide)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WAH — 165 W 48th St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Day Spa — 33 W 46th St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8640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Hudson River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899855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Avenue →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Salon Row — W 46th Street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street, five pitches — walk it in a single afternoon.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0561320" cy="0"/>
          </a:xfrm>
          <a:prstGeom prst="line">
            <a:avLst/>
          </a:prstGeom>
          <a:noFill/>
          <a:ln w="44450">
            <a:solidFill>
              <a:srgbClr val="C9A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656832" y="3813048"/>
            <a:ext cx="146304" cy="329184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65392" y="3831336"/>
            <a:ext cx="128016" cy="292608"/>
          </a:xfrm>
          <a:prstGeom prst="line">
            <a:avLst/>
          </a:prstGeom>
          <a:noFill/>
          <a:ln w="19050">
            <a:solidFill>
              <a:srgbClr val="6E6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3136" y="3831336"/>
            <a:ext cx="128016" cy="292608"/>
          </a:xfrm>
          <a:prstGeom prst="line">
            <a:avLst/>
          </a:prstGeom>
          <a:noFill/>
          <a:ln w="19050">
            <a:solidFill>
              <a:srgbClr val="6E6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3739896"/>
            <a:ext cx="475488" cy="475488"/>
          </a:xfrm>
          <a:prstGeom prst="ellipse">
            <a:avLst/>
          </a:prstGeom>
          <a:solidFill>
            <a:srgbClr val="5A1E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Studio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 W 46th 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studio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79776" y="3739896"/>
            <a:ext cx="475488" cy="475488"/>
          </a:xfrm>
          <a:prstGeom prst="ellipse">
            <a:avLst/>
          </a:prstGeom>
          <a:solidFill>
            <a:srgbClr val="5A1E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Ryan Salon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5740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W 46th 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· sustainable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79976" y="3739896"/>
            <a:ext cx="475488" cy="475488"/>
          </a:xfrm>
          <a:prstGeom prst="ellipse">
            <a:avLst/>
          </a:prstGeom>
          <a:solidFill>
            <a:srgbClr val="5A1E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997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Vibe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W 46th 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· organic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37576" y="3739896"/>
            <a:ext cx="475488" cy="475488"/>
          </a:xfrm>
          <a:prstGeom prst="ellipse">
            <a:avLst/>
          </a:prstGeom>
          <a:solidFill>
            <a:srgbClr val="5A1E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HKS Himitsukichi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W 46th 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salon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57816" y="3739896"/>
            <a:ext cx="475488" cy="475488"/>
          </a:xfrm>
          <a:prstGeom prst="ellipse">
            <a:avLst/>
          </a:prstGeom>
          <a:solidFill>
            <a:srgbClr val="5A1E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5781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544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Day Spa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3544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W 46th St, 6th Fl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35440" y="4361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from 47th 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8016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9th–10th Avenues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52360" y="4892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5th–6th Avenues · Diamond District edge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7150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F6F1E7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5852160"/>
            <a:ext cx="438912" cy="438912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38" y="5970666"/>
            <a:ext cx="201900" cy="2019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325880" y="5715000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tip:  </a:t>
            </a:r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west at No. 451 after lunch, finish east at Elite Day Spa — you land a block from the Diamond District at closing-coffee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— hair &amp; barbershops (10036)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002975" y="502920"/>
            <a:ext cx="640080" cy="640080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5797" y="675742"/>
            <a:ext cx="294437" cy="294437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33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for the pitch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CityStar Hair Salon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 Eighth Ave · (877) 875-5352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7 days; heavy 8th Ave walk-in traffic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Hell's Kitchen Barbers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667 9th Ave · (212) 470-7204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High-end classic shop; men's gifting angle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 Best Barbers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 W 47th St · (646) 669-8002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Walk-in friendly; Theater District crowd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Barber Shop NYC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W 50th St (at 8th Ave)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Sq Alliance directory; open 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Hells Kitchen Barbershop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Hell's Kitchen · see site for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cuts &amp; hot-towel shaves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6F1E7"/>
          </a:solidFill>
          <a:ln/>
        </p:spPr>
      </p:sp>
      <p:sp>
        <p:nvSpPr>
          <p:cNvPr id="7" name="Shape 3"/>
          <p:cNvSpPr/>
          <p:nvPr/>
        </p:nvSpPr>
        <p:spPr>
          <a:xfrm>
            <a:off x="713232" y="5788152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38" y="5906658"/>
            <a:ext cx="201900" cy="201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56235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Barbershop angle:  </a:t>
            </a:r>
            <a:pPr indent="0" marL="0">
              <a:buNone/>
            </a:pPr>
            <a:r>
              <a:rPr lang="en-US" sz="125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buy chains, watches and gifts for partners. A “gift her something that outlasts the haircut” counter card converts.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Nails, blow-dry &amp; spas (10036)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5797" y="630022"/>
            <a:ext cx="294437" cy="294437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325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for the pitch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Nail WAH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W 48th St, 2nd Fl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Well-reviewed; rings sell at the drying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NAMS Nail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 10th Ave · (917) 261-4801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 favorite, 349 Yelp 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10th Ave nail cluster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628–695 10th 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independents — sweep in one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Drybar — Hell's Kitchen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W 42nd 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Chain: pitch the manager on event nights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Blow Dry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Riu Plaza &amp; Sheraton Times Sq hotels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Tourists getting event-ready = jewelry moment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 York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797 Eighth Ave, 2nd Fl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to 10pm daily; steady local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Square Men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 W 44th 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spa, open late — gifting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Tree Spa · The Chatwal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Chatwal hotel, W 44th 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hotel spa — ask about a retail vitrine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Skip: the spa inside The Westin Times Square (270 W 43rd) is reported closed.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the short walk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the zip line in 10018 / 10019 — plus jewelry-natural venues.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Bliss Nail &amp;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W 36th St (10018)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Wax Center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 Broadway (10018)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 Studio Hair Salon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 W 50th St (10019)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Salon Ziba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W 57th St, 2nd Fl (10019)*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Nick Sarah Salón · est. 1962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 W 57th St (10019)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Shimunov Salon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W 55th St (10019)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Drybar · Nordstrom NYC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 W 58th St (10019)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Also reported at 74 7th Ave — confirm before visiting.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03720" y="1783080"/>
            <a:ext cx="4736592" cy="1371600"/>
          </a:xfrm>
          <a:prstGeom prst="roundRect">
            <a:avLst>
              <a:gd name="adj" fmla="val 8000"/>
            </a:avLst>
          </a:prstGeom>
          <a:solidFill>
            <a:srgbClr val="F6F1E7"/>
          </a:solidFill>
          <a:ln/>
        </p:spPr>
      </p:sp>
      <p:sp>
        <p:nvSpPr>
          <p:cNvPr id="7" name="Shape 4"/>
          <p:cNvSpPr/>
          <p:nvPr/>
        </p:nvSpPr>
        <p:spPr>
          <a:xfrm>
            <a:off x="7123176" y="2148840"/>
            <a:ext cx="603504" cy="60350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6122" y="2311786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6992" y="19293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 Bridal — 306 W 38th 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936992" y="23134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sq ft bridal showroom, gowns $700–$5,000. Brides need jewelry: propose referrals or a trunk show.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03720" y="3337560"/>
            <a:ext cx="4736592" cy="1371600"/>
          </a:xfrm>
          <a:prstGeom prst="roundRect">
            <a:avLst>
              <a:gd name="adj" fmla="val 8000"/>
            </a:avLst>
          </a:prstGeom>
          <a:solidFill>
            <a:srgbClr val="F6F1E7"/>
          </a:solidFill>
          <a:ln/>
        </p:spPr>
      </p:sp>
      <p:sp>
        <p:nvSpPr>
          <p:cNvPr id="12" name="Shape 8"/>
          <p:cNvSpPr/>
          <p:nvPr/>
        </p:nvSpPr>
        <p:spPr>
          <a:xfrm>
            <a:off x="7123176" y="3703320"/>
            <a:ext cx="603504" cy="60350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122" y="3866266"/>
            <a:ext cx="277612" cy="2776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6992" y="34838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concierges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936992" y="38679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 Plaza, Sheraton, Chatwal, Marriott Marquis — referral cards for “where do I buy jewelry near here?”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4892040"/>
            <a:ext cx="4736592" cy="1371600"/>
          </a:xfrm>
          <a:prstGeom prst="roundRect">
            <a:avLst>
              <a:gd name="adj" fmla="val 8000"/>
            </a:avLst>
          </a:prstGeom>
          <a:solidFill>
            <a:srgbClr val="F6F1E7"/>
          </a:solidFill>
          <a:ln/>
        </p:spPr>
      </p:sp>
      <p:sp>
        <p:nvSpPr>
          <p:cNvPr id="17" name="Shape 12"/>
          <p:cNvSpPr/>
          <p:nvPr/>
        </p:nvSpPr>
        <p:spPr>
          <a:xfrm>
            <a:off x="7123176" y="5257800"/>
            <a:ext cx="603504" cy="603504"/>
          </a:xfrm>
          <a:prstGeom prst="ellipse">
            <a:avLst/>
          </a:prstGeom>
          <a:solidFill>
            <a:srgbClr val="5A1E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122" y="5420746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36992" y="50383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District border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936992" y="54223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47th St (5th–6th Ave) is one block from Nail WAH and Elite Day Spa — shoppers already in the mindset.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5A1E33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3-day walking plan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window: Tue–Thu, 10:00 am–12:30 pm. Ask for the owner or manager by name. Never Fri–Sat.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5A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139696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396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Salon Row + east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788920"/>
            <a:ext cx="3136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46th St: 451 → 429 → 352 → 144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Day Spa — 33 W 46th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WAH — 165 W 48th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92024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5A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4507992" y="2139696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11496" y="21396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Avenue sweep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44568" y="2788920"/>
            <a:ext cx="3136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CityStar → Renew York (8th Ave)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Barbers → HK Best (9th Ave)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Drybar 42nd → NAMS + 10th Ave nails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92024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5A1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2139696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51392" y="21396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Outliers + bridal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84464" y="2788920"/>
            <a:ext cx="3136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Bliss → EWC (10018)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 → Ziba → Nick Sarah (10019)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9D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 Bridal — 306 W 38th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5A1E33">
              <a:alpha val="65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946904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026" y="5065410"/>
            <a:ext cx="201900" cy="2019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47091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tray (5–8 pieces)  ·  one-page partnership sheet  ·  QR counter cards → roomysjewelery.store  ·  simple commission table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sources: outreach/salon-pitch-list-nyc-10036.md · github.com/news-CC/Carat-Capital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Partnership Pitch — NYC 10036</dc:title>
  <dc:subject>PptxGenJS Presentation</dc:subject>
  <dc:creator>Roomy's</dc:creator>
  <cp:lastModifiedBy>Roomy's</cp:lastModifiedBy>
  <cp:revision>1</cp:revision>
  <dcterms:created xsi:type="dcterms:W3CDTF">2026-08-19T19:40:40Z</dcterms:created>
  <dcterms:modified xsi:type="dcterms:W3CDTF">2026-08-19T19:40:40Z</dcterms:modified>
</cp:coreProperties>
</file>